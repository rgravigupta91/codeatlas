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6"/>
    <p:restoredTop sz="94635"/>
  </p:normalViewPr>
  <p:slideViewPr>
    <p:cSldViewPr snapToGrid="0">
      <p:cViewPr varScale="1">
        <p:scale>
          <a:sx n="114" d="100"/>
          <a:sy n="114" d="100"/>
        </p:scale>
        <p:origin x="20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3ED5-BBF2-5CC7-C598-925100EA8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7B930-DE34-CD41-0321-D95F2773E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60179-A0CA-92C9-311D-27CF9A0B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AF5C4-E0B8-4ACA-1C2C-5FA95C5F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200C9-FE75-5A30-E201-E6308523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EC67-0C8C-3B3C-D727-39BF89E10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CE4A3-7E16-164D-1C38-5FFF60751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03213-69C8-7BEA-DA1C-47B6231E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3E45D-585C-347A-E4EC-A344EC46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A282C-3D2A-4EAC-EA42-0A660A6B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5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C096-DB5B-5113-55D7-1D71A49CD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9C47E-FD4E-0555-8672-64C7AD02C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68469-3BBE-9EA7-4859-63CF1136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A461B-A020-E698-C3A3-909052F5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3CB5-F7AA-5A82-4457-47266BD0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7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4FB9-35B2-6288-27FC-26BA4834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ED57E-DBBD-102A-ADB4-17AAEC276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8D905-141E-6232-1397-6452A1154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2B619-C998-216F-2A40-C83339B4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D936D-1BE3-A6F6-F1BF-15B26113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BD0D-6676-AFA8-7CE0-90DB170C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6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235D-303A-0F70-733A-D82A7628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5ED6A-C7BA-405E-7AA5-33CA5596F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5DFB1-AE5C-ACD2-813C-A70B61EB1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6C57B-D60E-AD78-CF1E-8A6A7BEAF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E4C68-EAC2-7DE9-EE15-E8D6D04D6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5F9A5-0D44-14A6-7D2E-7791469F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3ACED-F69F-CCA8-827B-D80F6103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1D5C2-56F6-A90D-8A9D-23FA0503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5EFC-3605-AE3C-FD4C-E824F85D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D17CE-8BBB-4B58-A906-D2341341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010C8-2870-B2A5-41BD-32FD51BB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8976F-4EE8-9077-96B9-36C23A51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9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9DDF5-70AC-29AB-E599-8619219B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56A70-2787-0247-7CC6-2CC0F076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35381-9661-749F-CAD1-A833BA51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5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66DC-1BF0-644C-1923-16BA8A19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FACB5-A661-8EB7-7D4B-9B91663AD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4F1C9-4FDA-D349-A946-34CD56C2D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0209A-49BA-BA54-849F-4A8CF5F5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F21F5-3DB0-ACE8-B2AC-FB2F832B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5DC3-4D7B-D6FD-29CF-E7893DD4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5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CECF-3ED6-CF4E-B057-23389C21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80167-A56F-0424-85B3-1E4FD4772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25341-6206-D0E5-C952-936E1E7BB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9B2D0-B851-8E84-FB22-2B11FD0E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5192E-39FF-9369-A20B-2A59CAFB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A9609-43F8-D98B-3D38-E1D2FC5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96BA-7352-7E19-1591-676D17EC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78CA5-B02E-2514-0CE4-508778B46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679C-BFBB-0948-F1DD-8279B86C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2A8BC-51E9-F26A-C8BE-CD1AE94D4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DF98-B6B9-C3AF-E5E9-01D924B4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6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5646C-431E-6478-6303-842E35D98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8B08E-0FA2-8BFD-F3D3-E47BD0D9A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74CE-D952-B498-029E-107A0055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BEA15-72E3-3116-2BAD-132C6964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19A27-7390-69E2-BED7-4940B806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81D52-B38B-273C-5AB1-E09E0708B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F21F-F8E9-8D42-F3E2-029533AA2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07D6-7C45-4B9E-7BFB-3FB65FEF4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4B3CE-D5FF-CD49-89A4-75156440EA87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0D652-3AB5-E601-07D3-057EDDAFC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F7B2B-39A6-8404-EAFA-C533AA781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65028-5EAF-144F-ADB0-AD54038C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B991-45CB-1D93-392D-D6A31348D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18" y="2581247"/>
            <a:ext cx="2844000" cy="928716"/>
          </a:xfrm>
        </p:spPr>
        <p:txBody>
          <a:bodyPr>
            <a:spAutoFit/>
          </a:bodyPr>
          <a:lstStyle/>
          <a:p>
            <a:pPr algn="l"/>
            <a:r>
              <a:rPr lang="en-US" dirty="0" err="1"/>
              <a:t>Chitrana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301A4-70FD-C4F2-3EFA-5635B9A0E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19" y="3602038"/>
            <a:ext cx="5580000" cy="1091646"/>
          </a:xfrm>
        </p:spPr>
        <p:txBody>
          <a:bodyPr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From Issue to Insight: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Auto-Generating TAM Diagrams from JIRA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for Smarter Development</a:t>
            </a:r>
            <a:endParaRPr lang="en-US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904157EF-66D8-5461-B2DA-871A91A8B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02" y="0"/>
            <a:ext cx="3940098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7BBD1B-B1BE-31FC-F412-372559F46ACF}"/>
              </a:ext>
            </a:extLst>
          </p:cNvPr>
          <p:cNvSpPr txBox="1"/>
          <p:nvPr/>
        </p:nvSpPr>
        <p:spPr>
          <a:xfrm>
            <a:off x="1524018" y="4785759"/>
            <a:ext cx="1831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Prabal Mahanta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Ravi Kumar Gupta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Swadesh Mohapatra</a:t>
            </a:r>
          </a:p>
        </p:txBody>
      </p:sp>
    </p:spTree>
    <p:extLst>
      <p:ext uri="{BB962C8B-B14F-4D97-AF65-F5344CB8AC3E}">
        <p14:creationId xmlns:p14="http://schemas.microsoft.com/office/powerpoint/2010/main" val="415375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B8A3D-57E0-803D-9FE0-F93F68DA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1480"/>
            <a:ext cx="2556000" cy="1315040"/>
          </a:xfrm>
        </p:spPr>
        <p:txBody>
          <a:bodyPr>
            <a:spAutoFit/>
          </a:bodyPr>
          <a:lstStyle/>
          <a:p>
            <a:r>
              <a:rPr lang="en-US" dirty="0"/>
              <a:t>Problem</a:t>
            </a:r>
            <a:br>
              <a:rPr lang="en-US" dirty="0"/>
            </a:br>
            <a:r>
              <a:rPr lang="en-US" dirty="0"/>
              <a:t>Statement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915A3-A916-C93A-602E-AA14DAD8D42F}"/>
              </a:ext>
            </a:extLst>
          </p:cNvPr>
          <p:cNvGrpSpPr/>
          <p:nvPr/>
        </p:nvGrpSpPr>
        <p:grpSpPr>
          <a:xfrm>
            <a:off x="0" y="2236986"/>
            <a:ext cx="1188000" cy="576000"/>
            <a:chOff x="4977544" y="2922544"/>
            <a:chExt cx="1188000" cy="5760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38227D8-4B6D-3EA2-E83C-50BBB3A6B331}"/>
                </a:ext>
              </a:extLst>
            </p:cNvPr>
            <p:cNvSpPr/>
            <p:nvPr/>
          </p:nvSpPr>
          <p:spPr>
            <a:xfrm>
              <a:off x="4977544" y="2922544"/>
              <a:ext cx="1188000" cy="576000"/>
            </a:xfrm>
            <a:custGeom>
              <a:avLst/>
              <a:gdLst>
                <a:gd name="connsiteX0" fmla="*/ 0 w 1188000"/>
                <a:gd name="connsiteY0" fmla="*/ 0 h 576000"/>
                <a:gd name="connsiteX1" fmla="*/ 900000 w 1188000"/>
                <a:gd name="connsiteY1" fmla="*/ 0 h 576000"/>
                <a:gd name="connsiteX2" fmla="*/ 1188000 w 1188000"/>
                <a:gd name="connsiteY2" fmla="*/ 288000 h 576000"/>
                <a:gd name="connsiteX3" fmla="*/ 900000 w 1188000"/>
                <a:gd name="connsiteY3" fmla="*/ 576000 h 576000"/>
                <a:gd name="connsiteX4" fmla="*/ 0 w 1188000"/>
                <a:gd name="connsiteY4" fmla="*/ 57600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8000" h="576000">
                  <a:moveTo>
                    <a:pt x="0" y="0"/>
                  </a:moveTo>
                  <a:lnTo>
                    <a:pt x="900000" y="0"/>
                  </a:lnTo>
                  <a:cubicBezTo>
                    <a:pt x="1059058" y="0"/>
                    <a:pt x="1188000" y="128942"/>
                    <a:pt x="1188000" y="288000"/>
                  </a:cubicBezTo>
                  <a:cubicBezTo>
                    <a:pt x="1188000" y="447058"/>
                    <a:pt x="1059058" y="576000"/>
                    <a:pt x="900000" y="576000"/>
                  </a:cubicBezTo>
                  <a:lnTo>
                    <a:pt x="0" y="576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Target with solid fill">
              <a:extLst>
                <a:ext uri="{FF2B5EF4-FFF2-40B4-BE49-F238E27FC236}">
                  <a16:creationId xmlns:a16="http://schemas.microsoft.com/office/drawing/2014/main" id="{425987C8-DD21-93E0-4AE2-0B0B7CD19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7544" y="2940544"/>
              <a:ext cx="540000" cy="540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F3B4C7A-E314-1C9E-9D66-E9E94F98FB1B}"/>
              </a:ext>
            </a:extLst>
          </p:cNvPr>
          <p:cNvSpPr/>
          <p:nvPr/>
        </p:nvSpPr>
        <p:spPr>
          <a:xfrm>
            <a:off x="3912000" y="0"/>
            <a:ext cx="8280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dirty="0">
                <a:solidFill>
                  <a:srgbClr val="000000"/>
                </a:solidFill>
              </a:rPr>
              <a:t>Manual diagram creation is time-consuming.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dirty="0">
                <a:solidFill>
                  <a:srgbClr val="000000"/>
                </a:solidFill>
              </a:rPr>
              <a:t>Diagrams often become outdated with changing requirements or code.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dirty="0">
                <a:solidFill>
                  <a:srgbClr val="000000"/>
                </a:solidFill>
              </a:rPr>
              <a:t>Difficult to visualize architecture from legacy code or JIRA-based stories.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Understanding Legacy code for Transforming it to new Cloud Based.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Often the architecture Diagrams and the actual code is not in sync.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,Sans-Serif" panose="020B0604020202020204" pitchFamily="34" charset="0"/>
            </a:pPr>
            <a:endParaRPr lang="en-US" sz="28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,Sans-Serif" panose="020B0604020202020204" pitchFamily="34" charset="0"/>
            </a:pPr>
            <a:endParaRPr lang="en-US" sz="2800" dirty="0">
              <a:solidFill>
                <a:srgbClr val="000000"/>
              </a:solidFill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dirty="0">
                <a:solidFill>
                  <a:srgbClr val="000000"/>
                </a:solidFill>
              </a:rPr>
              <a:t>Keep architecture artifacts current.</a:t>
            </a:r>
            <a:endParaRPr lang="en-US" dirty="0">
              <a:solidFill>
                <a:srgbClr val="35403A"/>
              </a:solidFill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dirty="0">
                <a:solidFill>
                  <a:srgbClr val="000000"/>
                </a:solidFill>
              </a:rPr>
              <a:t>Reduce manual effort and improve comprehension of system logic.</a:t>
            </a:r>
            <a:endParaRPr lang="en-US" dirty="0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9FDDC960-88E8-4C05-81F9-1F6F210F10BD}"/>
              </a:ext>
            </a:extLst>
          </p:cNvPr>
          <p:cNvSpPr/>
          <p:nvPr/>
        </p:nvSpPr>
        <p:spPr>
          <a:xfrm>
            <a:off x="3912000" y="1655418"/>
            <a:ext cx="1475999" cy="370800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Challenges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6BFEFB81-3356-E9E9-8168-B9D61BD00588}"/>
              </a:ext>
            </a:extLst>
          </p:cNvPr>
          <p:cNvSpPr/>
          <p:nvPr/>
        </p:nvSpPr>
        <p:spPr>
          <a:xfrm>
            <a:off x="3912000" y="3854540"/>
            <a:ext cx="1475999" cy="370800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Need</a:t>
            </a:r>
          </a:p>
        </p:txBody>
      </p:sp>
    </p:spTree>
    <p:extLst>
      <p:ext uri="{BB962C8B-B14F-4D97-AF65-F5344CB8AC3E}">
        <p14:creationId xmlns:p14="http://schemas.microsoft.com/office/powerpoint/2010/main" val="334175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37FC-62CF-388C-48D0-3191783A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FA8-15B6-18AD-1367-621BD7E6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1480"/>
            <a:ext cx="2376000" cy="1315040"/>
          </a:xfrm>
        </p:spPr>
        <p:txBody>
          <a:bodyPr>
            <a:spAutoFit/>
          </a:bodyPr>
          <a:lstStyle/>
          <a:p>
            <a:r>
              <a:rPr lang="en-US" dirty="0"/>
              <a:t>Proposed</a:t>
            </a:r>
            <a:br>
              <a:rPr lang="en-US" dirty="0"/>
            </a:br>
            <a:r>
              <a:rPr lang="en-US" dirty="0"/>
              <a:t>Solution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5FAE7E-BA14-8045-BAD7-47ED992B7E2D}"/>
              </a:ext>
            </a:extLst>
          </p:cNvPr>
          <p:cNvGrpSpPr/>
          <p:nvPr/>
        </p:nvGrpSpPr>
        <p:grpSpPr>
          <a:xfrm>
            <a:off x="0" y="2236986"/>
            <a:ext cx="1188000" cy="576000"/>
            <a:chOff x="4977544" y="2922544"/>
            <a:chExt cx="1188000" cy="5760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EF2933E-A048-9373-38F8-C8BDD13DEE46}"/>
                </a:ext>
              </a:extLst>
            </p:cNvPr>
            <p:cNvSpPr/>
            <p:nvPr/>
          </p:nvSpPr>
          <p:spPr>
            <a:xfrm>
              <a:off x="4977544" y="2922544"/>
              <a:ext cx="1188000" cy="576000"/>
            </a:xfrm>
            <a:custGeom>
              <a:avLst/>
              <a:gdLst>
                <a:gd name="connsiteX0" fmla="*/ 0 w 1188000"/>
                <a:gd name="connsiteY0" fmla="*/ 0 h 576000"/>
                <a:gd name="connsiteX1" fmla="*/ 900000 w 1188000"/>
                <a:gd name="connsiteY1" fmla="*/ 0 h 576000"/>
                <a:gd name="connsiteX2" fmla="*/ 1188000 w 1188000"/>
                <a:gd name="connsiteY2" fmla="*/ 288000 h 576000"/>
                <a:gd name="connsiteX3" fmla="*/ 900000 w 1188000"/>
                <a:gd name="connsiteY3" fmla="*/ 576000 h 576000"/>
                <a:gd name="connsiteX4" fmla="*/ 0 w 1188000"/>
                <a:gd name="connsiteY4" fmla="*/ 57600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8000" h="576000">
                  <a:moveTo>
                    <a:pt x="0" y="0"/>
                  </a:moveTo>
                  <a:lnTo>
                    <a:pt x="900000" y="0"/>
                  </a:lnTo>
                  <a:cubicBezTo>
                    <a:pt x="1059058" y="0"/>
                    <a:pt x="1188000" y="128942"/>
                    <a:pt x="1188000" y="288000"/>
                  </a:cubicBezTo>
                  <a:cubicBezTo>
                    <a:pt x="1188000" y="447058"/>
                    <a:pt x="1059058" y="576000"/>
                    <a:pt x="900000" y="576000"/>
                  </a:cubicBezTo>
                  <a:lnTo>
                    <a:pt x="0" y="576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Bullseye with solid fill">
              <a:extLst>
                <a:ext uri="{FF2B5EF4-FFF2-40B4-BE49-F238E27FC236}">
                  <a16:creationId xmlns:a16="http://schemas.microsoft.com/office/drawing/2014/main" id="{7BAFA935-0177-26EA-BA53-77FC6D17B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07544" y="2940544"/>
              <a:ext cx="540000" cy="540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A047C-D0D3-828B-5B74-3617B1425E9F}"/>
              </a:ext>
            </a:extLst>
          </p:cNvPr>
          <p:cNvSpPr/>
          <p:nvPr/>
        </p:nvSpPr>
        <p:spPr>
          <a:xfrm>
            <a:off x="3912000" y="0"/>
            <a:ext cx="8280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Automatically generate TAM diagrams by parsing:</a:t>
            </a:r>
          </a:p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JIRA Epics/Stories (using JIRA API)</a:t>
            </a:r>
          </a:p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Legacy Code (using code analysis/parsing)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,Sans-Serif" panose="020B0604020202020204" pitchFamily="34" charset="0"/>
            </a:pPr>
            <a:endParaRPr lang="en-US" sz="28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,Sans-Serif" panose="020B0604020202020204" pitchFamily="34" charset="0"/>
            </a:pPr>
            <a:endParaRPr lang="en-US" sz="2800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Real-time diagram generation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Integration with JIRA &amp; code repositories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Target Users: Architects, Developers, Product Teams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626D1B33-598B-9F36-4B90-0E1518676569}"/>
              </a:ext>
            </a:extLst>
          </p:cNvPr>
          <p:cNvSpPr/>
          <p:nvPr/>
        </p:nvSpPr>
        <p:spPr>
          <a:xfrm>
            <a:off x="3911997" y="1465851"/>
            <a:ext cx="1655999" cy="370800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Tool Concept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33AEABCF-17E6-439A-FAAE-DA5E715D32D5}"/>
              </a:ext>
            </a:extLst>
          </p:cNvPr>
          <p:cNvSpPr/>
          <p:nvPr/>
        </p:nvSpPr>
        <p:spPr>
          <a:xfrm>
            <a:off x="3911997" y="3508852"/>
            <a:ext cx="1620000" cy="370800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297802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all center&#10;&#10;AI-generated content may be incorrect.">
            <a:extLst>
              <a:ext uri="{FF2B5EF4-FFF2-40B4-BE49-F238E27FC236}">
                <a16:creationId xmlns:a16="http://schemas.microsoft.com/office/drawing/2014/main" id="{CBA2C26D-7C7E-42FD-287D-F79E266F2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788"/>
            <a:ext cx="12192000" cy="619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1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0A8D-A6FA-BA8A-D037-62A56627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A5C7-47F1-79CA-E172-E7976E75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1480"/>
            <a:ext cx="2664000" cy="1315040"/>
          </a:xfrm>
        </p:spPr>
        <p:txBody>
          <a:bodyPr>
            <a:spAutoFit/>
          </a:bodyPr>
          <a:lstStyle/>
          <a:p>
            <a:r>
              <a:rPr lang="en-US" dirty="0"/>
              <a:t>Benefits &amp; Next Steps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62F7DF-E5E5-7B68-E659-BBBDB55A0AFB}"/>
              </a:ext>
            </a:extLst>
          </p:cNvPr>
          <p:cNvGrpSpPr/>
          <p:nvPr/>
        </p:nvGrpSpPr>
        <p:grpSpPr>
          <a:xfrm>
            <a:off x="0" y="2236986"/>
            <a:ext cx="1188000" cy="576000"/>
            <a:chOff x="4977544" y="2922544"/>
            <a:chExt cx="1188000" cy="5760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531D9B-31B0-A616-DF6A-FC9F170EB890}"/>
                </a:ext>
              </a:extLst>
            </p:cNvPr>
            <p:cNvSpPr/>
            <p:nvPr/>
          </p:nvSpPr>
          <p:spPr>
            <a:xfrm>
              <a:off x="4977544" y="2922544"/>
              <a:ext cx="1188000" cy="576000"/>
            </a:xfrm>
            <a:custGeom>
              <a:avLst/>
              <a:gdLst>
                <a:gd name="connsiteX0" fmla="*/ 0 w 1188000"/>
                <a:gd name="connsiteY0" fmla="*/ 0 h 576000"/>
                <a:gd name="connsiteX1" fmla="*/ 900000 w 1188000"/>
                <a:gd name="connsiteY1" fmla="*/ 0 h 576000"/>
                <a:gd name="connsiteX2" fmla="*/ 1188000 w 1188000"/>
                <a:gd name="connsiteY2" fmla="*/ 288000 h 576000"/>
                <a:gd name="connsiteX3" fmla="*/ 900000 w 1188000"/>
                <a:gd name="connsiteY3" fmla="*/ 576000 h 576000"/>
                <a:gd name="connsiteX4" fmla="*/ 0 w 1188000"/>
                <a:gd name="connsiteY4" fmla="*/ 57600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8000" h="576000">
                  <a:moveTo>
                    <a:pt x="0" y="0"/>
                  </a:moveTo>
                  <a:lnTo>
                    <a:pt x="900000" y="0"/>
                  </a:lnTo>
                  <a:cubicBezTo>
                    <a:pt x="1059058" y="0"/>
                    <a:pt x="1188000" y="128942"/>
                    <a:pt x="1188000" y="288000"/>
                  </a:cubicBezTo>
                  <a:cubicBezTo>
                    <a:pt x="1188000" y="447058"/>
                    <a:pt x="1059058" y="576000"/>
                    <a:pt x="900000" y="576000"/>
                  </a:cubicBezTo>
                  <a:lnTo>
                    <a:pt x="0" y="576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Bullseye with solid fill">
              <a:extLst>
                <a:ext uri="{FF2B5EF4-FFF2-40B4-BE49-F238E27FC236}">
                  <a16:creationId xmlns:a16="http://schemas.microsoft.com/office/drawing/2014/main" id="{B3D7A414-DEEE-868A-5F44-E2071E541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07544" y="2940544"/>
              <a:ext cx="540000" cy="540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B83B2D6-B72F-893C-E716-60AAD0D4E874}"/>
              </a:ext>
            </a:extLst>
          </p:cNvPr>
          <p:cNvSpPr/>
          <p:nvPr/>
        </p:nvSpPr>
        <p:spPr>
          <a:xfrm>
            <a:off x="3912000" y="0"/>
            <a:ext cx="8280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Saves time and ensures up-to-date architecture views</a:t>
            </a:r>
          </a:p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Provides a clear understanding of the legacy code for improvement/changes.</a:t>
            </a:r>
          </a:p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Even the last-minute changes can be accommodated  in the architecture diagrams easily.</a:t>
            </a:r>
          </a:p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Will help any new developer/architect/Project Manager to understand the functionality and approach.</a:t>
            </a:r>
          </a:p>
          <a:p>
            <a:pPr marL="342900" marR="0" lvl="0" indent="-342900" fontAlgn="auto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Enhances traceability from requirements to implementation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,Sans-Serif" panose="020B0604020202020204" pitchFamily="34" charset="0"/>
            </a:pPr>
            <a:endParaRPr lang="en-US" sz="28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Arial,Sans-Serif" panose="020B0604020202020204" pitchFamily="34" charset="0"/>
            </a:pPr>
            <a:endParaRPr lang="en-US" sz="2800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PoC development using sample JIRA and code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Tools to be evaluated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Gather feedback and iterate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4CF10528-C097-467A-CFA3-C92AF0D2A5F8}"/>
              </a:ext>
            </a:extLst>
          </p:cNvPr>
          <p:cNvSpPr/>
          <p:nvPr/>
        </p:nvSpPr>
        <p:spPr>
          <a:xfrm>
            <a:off x="3911997" y="785633"/>
            <a:ext cx="1152000" cy="370800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Benefits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B4E2202E-E4D4-42A1-D065-CCFA8C73E5D0}"/>
              </a:ext>
            </a:extLst>
          </p:cNvPr>
          <p:cNvSpPr/>
          <p:nvPr/>
        </p:nvSpPr>
        <p:spPr>
          <a:xfrm>
            <a:off x="3911997" y="4189074"/>
            <a:ext cx="1404000" cy="370800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42716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E0CF2-389C-6AB2-F8CB-26CB4314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F1DB6A0F-E4EC-3067-2315-D3F0C4A6A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9835" y="2294257"/>
            <a:ext cx="3348000" cy="928716"/>
          </a:xfrm>
        </p:spPr>
        <p:txBody>
          <a:bodyPr>
            <a:spAutoFit/>
          </a:bodyPr>
          <a:lstStyle/>
          <a:p>
            <a:r>
              <a:rPr lang="en-US" dirty="0"/>
              <a:t>Questions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9EE6EA-7492-A3FE-61C1-591013EA6FE2}"/>
              </a:ext>
            </a:extLst>
          </p:cNvPr>
          <p:cNvGrpSpPr/>
          <p:nvPr/>
        </p:nvGrpSpPr>
        <p:grpSpPr>
          <a:xfrm>
            <a:off x="4729435" y="3427686"/>
            <a:ext cx="1828800" cy="914400"/>
            <a:chOff x="4729435" y="2821800"/>
            <a:chExt cx="1828800" cy="914400"/>
          </a:xfrm>
        </p:grpSpPr>
        <p:pic>
          <p:nvPicPr>
            <p:cNvPr id="11" name="Graphic 10" descr="Information with solid fill">
              <a:extLst>
                <a:ext uri="{FF2B5EF4-FFF2-40B4-BE49-F238E27FC236}">
                  <a16:creationId xmlns:a16="http://schemas.microsoft.com/office/drawing/2014/main" id="{8636E25D-C92C-DD11-8F5C-48DC5558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43835" y="2821800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Help with solid fill">
              <a:extLst>
                <a:ext uri="{FF2B5EF4-FFF2-40B4-BE49-F238E27FC236}">
                  <a16:creationId xmlns:a16="http://schemas.microsoft.com/office/drawing/2014/main" id="{498C8B22-BA0F-80A9-9039-1A81ED37C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29435" y="282180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5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225</Words>
  <Application>Microsoft Macintosh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Arial,Sans-Serif</vt:lpstr>
      <vt:lpstr>Office Theme</vt:lpstr>
      <vt:lpstr>Chitrana</vt:lpstr>
      <vt:lpstr>Problem Statement</vt:lpstr>
      <vt:lpstr>Proposed Solution</vt:lpstr>
      <vt:lpstr>PowerPoint Presentation</vt:lpstr>
      <vt:lpstr>Benefits &amp; Next Steps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Mohapatra, Swadesh</dc:creator>
  <cp:lastModifiedBy>Mohapatra, Swadesh</cp:lastModifiedBy>
  <cp:revision>3</cp:revision>
  <dcterms:created xsi:type="dcterms:W3CDTF">2025-09-01T04:01:23Z</dcterms:created>
  <dcterms:modified xsi:type="dcterms:W3CDTF">2025-09-01T04:33:12Z</dcterms:modified>
</cp:coreProperties>
</file>